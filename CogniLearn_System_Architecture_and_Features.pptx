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2926080" cy="320040"/>
          </a:xfrm>
          <a:prstGeom prst="roundRect">
            <a:avLst>
              <a:gd name="adj" fmla="val 28571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ARCHITECTURE SPECIFICATION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Cognitive Attention Analytics, Real-Time Computer Vision Tracking &amp; Educational Telemetry Platform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2514600" cy="219456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749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Tracking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42062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DeepSORT-lite 6-face tracking with Kalman filters, Hungarian matching &amp; AR HUD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3566160"/>
            <a:ext cx="2514600" cy="219456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3749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Portal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42062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timer, gamified XP engine (+150 XP), adaptive Box Breathing &amp; ergonomic breaks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3566160"/>
            <a:ext cx="2514600" cy="219456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3749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Computer Vision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42062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468-mesh, MobileFaceNet 512-D ONNX embeddings &amp; Euler gaze rays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823960" y="3566160"/>
            <a:ext cx="2514600" cy="219456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3749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DPDP Act Compliance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0" y="42062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WebCrypto AES-GCM 256-bit encryption. Zero raw photos stored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1 of 23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Pedagogical Motivation &amp; Supervisory Psychology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303520" cy="493776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Problem &amp; Ethical Grounding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Cognitive Fragmentation: Digital learning creates continuous micro-distractions and eye strain that traditional LMS tools fail to detect.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Failure of Punitive Proctoring: Traditional proctoring tools flag natural human movements as "violations". CogniLearn rejects this punitive model.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Supervisory Psychology: Human learning requires diverse mental modes—reading, problem-solving, reflection, and natural eye blinks.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Formative Metacognition: Students receive self-regulation awareness and adaptive breaks, while educators gain classroom-level engagement telemetry.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94960" cy="493776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Formative Cognitive States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1965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Screen Engagement (Green)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visual gaze on course materials with alert blink rhythms (EAR ~ 0.25+). Peak attention mode.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492240" y="29718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Desk Work / Note-Taking (Blue)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32461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Downward pitch (15°-35°) with stable posture (low pitch variance). Indicates active calculation or writing.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492240" y="3977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Cognitive Reflection (Amber)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42519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glance away (&lt; 3.5s) while synthesizing complex ideas. Natural conceptual processing, not penalized.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492240" y="4983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Genuine Distraction / Fatigue (Red)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5257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off-target gaze (&gt; 3.5s) or high PERCLOS eyelid closure (&gt; 35%). Triggers adaptive break.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2 of 23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Full-Stack Technology Matrix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493776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6519672"/>
              </a:tblGrid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Subsystem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Technologies &amp; Version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Architectural Role in CogniLearn AI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UI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19.0.1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TypeScript 5.8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Vite 6.2.3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 lifecycle management, sub-second HMR, strict type safety, responsive dark glassmorphic design system.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Edge Perception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@mediapipe/tasks-vision 0.10.18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onnxruntime-web 1.30.0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468 3D facial landmarks + 10 iris reticles at 30 fps via WebGL GPU shaders; MobileFaceNet 512-D ONNX inference via WASM SIMD.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366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Spatial Tracking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Discrete Kalman Filter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Hungarian Kuhn-Munkres O(N³)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8-state constant velocity bounding box tracking; optimal bipartite matching avoiding student identity switches.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Server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 24 + Express 4.21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express-rate-limit 8.7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Gateway (/api/*), 10MB payload limit for biometrics/avatars, brute-force auth defense (10/15min) &amp; AI rate limiter.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5C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Database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Supabase PostgreSQL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Supabase Realtime Broadcast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Relational persistence with pgcrypto, RLS policies; 1 Hz throttled websocket telemetry streaming (classroom:CLASS_ID).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Biometrics &amp; Security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WebCrypto API (AES-GCM 256)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DPDP Act 2023 Compliance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On-device encrypted IndexedDB store (cognilearn_biometrics_db). Never transmits or stores raw video/photos.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472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Generative AI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Gemini 2.0 (@google/genai)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Langfuse 3.39 + Zod 4.6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Pedagogical narrative reports from deterministic stats; SHA-256 student PII pseudonymization; Zod schema enforcement.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3 of 23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Multi-Tier Architectural Topology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2606040" cy="411480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630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Layer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23317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31720"/>
            <a:ext cx="2331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HTML5 WebCam Capture (30 fps)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MediaPipe 468 Landmark Mesh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Euler Yaw/Pitch/Roll Decomposition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Laplacian Blur Gate (Var ≥ 32)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606040" cy="411480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4630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20440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&amp; ML Engine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20440" y="2148840"/>
            <a:ext cx="23317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331720"/>
            <a:ext cx="2331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DeepSORT-lite Spatial Association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8-State Kalman Box Predictor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Hungarian O(N³) Bipartite Solver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45s Cognitive Buffer &amp; Softmax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2606040" cy="411480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4630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355080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&amp; Realtime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2148840"/>
            <a:ext cx="23317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2331720"/>
            <a:ext cx="2331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Supabase Realtime Broadcast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 Hz Throttled Telemetry Packets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Window CustomEvent Fallback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WebSocket Subscriptions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52560" y="1280160"/>
            <a:ext cx="2606040" cy="411480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14630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89720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&amp; AI Core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89720" y="2148840"/>
            <a:ext cx="23317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9720" y="2331720"/>
            <a:ext cx="2331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Express 4.21 Gateway &amp; Rate Limits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Supabase PostgreSQL + RLS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WebCrypto AES-GCM Biometric Store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Gemini 2.0 + Langfuse Observability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55778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EDGE-FIRST PRIVACY BENEFIT: All video frames are processed exclusively on the user's local GPU/CPU. Zero raw video is transmitted across the network, guaranteeing total privacy and sub-33ms real-time responsiveness.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4 of 23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EDUCATOR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Tracking: Multi-Target Vision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303520" cy="493776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Multi-Target MediaPipe Configuration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Simultaneous Detection: Configured via getMultiFaceLandmarker() to track up to 6 student faces concurrently.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Confidence Thresholds: minFaceDetectionConfidence: 0.45, minFacePresenceConfidence: 0.45, minTrackingConfidence: 0.45.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 Execution Delegate: Primary GPU acceleration via WebGL with seamless CPU WASM fallback if WebGL contexts fail.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Independent Outputs: Produces 468 landmarks, 4x4 metric transformation matrices, and facial blendshapes per detected pupil.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94960" cy="493776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Dashboard Operating Modes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Overview Mode: Real-time cohort analytics cards, attendance strength, aggregate 94.8% average engagement index, at-risk attention flags, and diagnostic history.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Classroom Room Mode: High-impact full-screen video stream rendering dynamic AR HUD overlays on all visible students simultaneously.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Click-to-Calibrate: Educator can click directly on any detected face bounding box on the canvas to inspect real-time metrics or trigger quick 5-sample biometric calibration.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 Camera Switching: Supports front (user) and rear (environment) camera toggles for mobile and tablet educator devices.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5 of 23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ALGORITHMS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DeepSORT-lite Spatial Tracking &amp; Hungarian Matching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630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Kalman Prediction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next bounding box state [cx, cy, w, h] using an 8-state constant velocity motion model for each active track.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28016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4630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520440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Matrix Assembly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21945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composite cost = 0.50*(1-IoU) + 0.20*(CentroidDist) + 0.30*(EmbeddingDist). Spatial gating forbids distant matches.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4630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355080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Hungarian Solving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21945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Kuhn-Munkres O(N³) bipartite algorithm to find optimal minimum-cost pairing between live detections and tracks.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52560" y="128016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14630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89720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Hysteresis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89720" y="21945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 student identities across frames. Requires multi-frame sustained candidate match before switching IDs to eliminate flicker.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11091672" cy="164592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800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Lifecycle State Machine: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120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TENTATIVE: New face detected; assigned trackId but requires &gt;= 3 consecutive frames of hits before displaying to educator.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CONFIRMED: Stable track active; rendered with full AR HUD overlays, identity pill, and focus score progress bars.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LOST: Detection missed (e.g., student briefly looked away); Kalman filter predicts trajectory for up to 30 frames before deletion.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6 of 23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INTERFACE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High-Tech Canvas AR Head-Up Display (HUD) Overlays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Bracket Corner Reticles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2px corner brackets framing student faces. Color-coded dynamically to cognitive state (Emerald, Blue, Amber, Coral).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343400" y="128016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4173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Identity Pill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480560" y="178308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Displays verified student name and confidence rating (e.g., "✔ Ananya Sharma (96%)") or "❓ UNKNOWN" for unregistered visitors.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8138160" y="128016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4173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Directional Gaze Rays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75320" y="178308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pitch/yaw vector beams projected from pupil centers with terminal target reticles, indicating precise gaze vectors in 3D.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319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Telemetry Pill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429768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state label (NOTE-TAKING, SCREEN FOCUS), numeric focus score (88%), Eye Aspect Ratio (EAR: 0.26), and mini progress bar.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343400" y="379476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9319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Drowsiness Warning Badges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0" y="429768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pill triggered when PERCLOS exceeds 40%: "⚠️ DROWSY (PERCLOS ALERT)". Avoids false alarms on simple downward reading.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8138160" y="379476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39319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Delicate Eye Mesh Outlines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75320" y="429768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Subtle 0.8px contour lines outlining palpebral fissures and key landmarks without obscuring video visibility.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7 of 23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 ENROLLMENT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DPDP Act 2023 Multi-Angle Biometric Calibration 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11091672" cy="493776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5-Sample Progressive Calibration Sequence (ClassroomAutoTracker.tsx)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488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1/5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Frontal Gaze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faces camera directly. Captures baseline ocular distances and inter-pupillary ratio.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44368" y="201168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808" y="21488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2/5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35808" y="2377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Slight Yaw Turn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35808" y="278892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turns head slightly left or right. Captures lateral facial contour and cheek proportions.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65776" y="201168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7216" y="21488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3/5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57216" y="2377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Slight Pitch Tilt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57216" y="278892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tilts head up or down. Calibrates nasal foreshortening and forehead-to-chin proportions.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87184" y="201168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78624" y="21488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4/5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78624" y="2377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Expression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78624" y="278892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smile or speech expression to ensure invariance against facial muscle deformations.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308592" y="201168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00032" y="21488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5/5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400032" y="2377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Confirmation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00032" y="278892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Synthesizes mean 512-D vector across samples, L2-normalizes, and commits to encrypted storage.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22960" y="5120640"/>
            <a:ext cx="10543032" cy="9144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516636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CF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COMPLIANCE: Adheres to the Indian Digital Personal Data Protection (DPDP) Act 2023. Requires an explicit consent checkbox before camera execution. Stores ONLY 512-D encrypted float vectors in local IndexedDB. Zero raw images or videos are ever stored on disk or server.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8 of 23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Cohort Hierarchies &amp; Scoped Rosters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303520" cy="493776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vs College Tier Scoping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School Track (Grades 6–12):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Standards: Class 6 through Class 12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Sections: A, B, C, D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Curriculums: CBSE, ICSE, State Boards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Subject Catalogs: Mathematics, Physics, Chemistry, Biology, Social Science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Higher Education Track (College / University):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Degrees: B.Tech, B.Sc, BCA, M.Tech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Departments: Computer Science &amp; Engineering, Electronics, Mechanical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Semesters: Semester 1 through Semester 8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Subjects: Operating Systems, Distributed Systems, Algorithms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94960" cy="493776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Class Codes &amp; Scoped Roll Numbers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Unique 6-Character Join Codes: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Generated via generateCohortCode(): "SCH-8X2A" or "COL-4M9K"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Unambiguous character set (no confusing 0/O or 1/I)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Allows students to instantly join class cohorts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Scoped Roll Number Uniqueness: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Database enforces UNIQUE(cohort_id, roll_no)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Students can hold Roll #14 in Section A without collision with Section B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Sync: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Enrolled students immediately populate the teacher's multi-face recognition gallery.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9 of 23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EDUCATOR TELEMETRY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Telemetry &amp; Class Diagnostic Testing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Hz Throttled WebSocket Stream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JSON state packets ({ studentId, state, focusScore, timestamp }) broadcast over Supabase Realtime channels (classroom:CLASS_ID). Generates &lt; 50 KB/s across 500 devices.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 Diagnostic Sessions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8745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Educator launches a synchronous class diagnostic test (15m, 30m, 45m). Dashboard monitors live class average focus and individual engagement curves.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Drop-Off Minute Detection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automatically flags lecture drop-off moments when aggregate engagement dips below 60%, signaling the teacher to pause and check for understanding.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217920" y="37947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Multi-Format Report Export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43891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comprehensive diagnostic reports exportable to PDF and CSV, breaking down student metrics, ocular fatigue, and AI recommendations.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10 of 23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PORTAL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Student Experience: Onboarding &amp; Live Feed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303520" cy="493776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3-Step Interactive Onboarding Wizard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Step 1: Account Credentials &amp; Password Meter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Live zxcvbn entropy calculation displaying Weak (Red), Fair (Yellow), Good (Blue), and Strong (Green).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Step 2: MediaPipe AI Face Reticle Calibration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Live WebCam oval overlay providing feedback: "CENTER FACE INSIDE RING", "FACE CAMERA DIRECTLY", "LIGHTING OPTIMAL".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Step 3: Academic Track &amp; Learning Styles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Configures grade/department, exam tracks (CBSE/JEE/NEET), and sensory learning styles (Visual, Auditory, Kinesthetic).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94960" cy="493776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Camera Feed (StudentCameraFeed.tsx)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High-Precision Single-Face Pipeline: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Processes 468 facial mesh landmarks and 10 iris reticles with sub-30ms frame latency.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3D Gaze Vectors &amp; Iris Glowing Rings: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Draws fine dashed directional gaze rays and outer iris rings, showing students where their attention is directed.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Instantaneous Status Telemetry Badge: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Pill at bottom of feed showing OPTIMAL FOCUS, NOTE-TAKING, or REFLECTION with live focus score and EAR value.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Privacy Guarantee: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Feed stays on-device; only numerical scores reach the server.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11 of 23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PORTAL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Gamified Focus Engine &amp; XP Level Progression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 &amp; Deep Work Timers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slots: 15m (Sprint), 25m (Standard Pomodoro), 45m (Deep Work), 60m (Mastery). Countdown persists state across tabs.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Rewards &amp; Level Progression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8745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Completing a focus session awards +150 XP. Points accumulate toward student level-ups, unlocking milestone badges and ranks.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Focus Streaks (🔥)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study habits are rewarded with streak counters. Encourages continuous positive reinforcement and formative consistency.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217920" y="37947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Cloud Persistence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43891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commit directly to Supabase study_sessions table with durationMinutes, xpEarned, and average focus score.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12 of 23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ERGONOMICS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In-Session Focus Break Interventions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11091672" cy="493776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Fatigue Detection Trigger (FocusBreakModal.tsx)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0F172A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Breathing (4-4-4-4)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interactive expanding/contracting circle. Inhale 4s, Hold 4s, Exhale 4s, Hold 4s. Regulates autonomic nervous system and lowers anxiety.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20-20-20 Ocular Relief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26517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student to focus on an object 20 feet away for 20 seconds. Relaxes ciliary eye muscles, restores tear film, and stops eye strain.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955280" y="201168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Ergonomic Neck Stretch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26517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physical stretches relieving cervical spine tension caused by prolonged downward desk work and screen posture.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10543032" cy="914400"/>
          </a:xfrm>
          <a:prstGeom prst="roundRect">
            <a:avLst>
              <a:gd name="adj" fmla="val 10000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16636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REINFORCEMENT: Completing any guided focus break rewards the student with +25 Bonus XP and logs the event to public.focus_breaks. The system treats mental fatigue with scientific ergonomic care rather than penalties.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13 of 23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ALGORITHMS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Formulations: Ocular Metrics &amp; Euler Pose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303520" cy="493776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6-Point Eye Aspect Ratio (EAR) &amp; PERCLOS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6-Point EAR Formula (in isotropic pixel space):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EAR = (||p2 - p6|| + ||p3 - p5||) / (2 * ||p1 - p4||)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Left Eye: 33, 160, 158, 133, 153, 144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Right Eye: 263, 385, 386, 362, 373, 374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avgEAR = (EAR_Left + EAR_Right) / 2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PERCLOS Drowsiness Metric (45-second sliding buffer):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PERCLOS = (1 / N) * Σ I(avgEAR_i &lt; θ_closed)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If PERCLOS &gt; 0.35 =&gt; Drowsiness alert triggered.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Calibration: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θ_closed = max(0.12, min(0.22, P_10 * 0.85)) sampled during the initial 25 seconds of session.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94960" cy="493776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Euler Angles from 4x4 Matrix Decomposition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MediaPipe Column-Major 4x4 Matrix: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Extracts 3x3 rotation matrix R from entries [d0...d10]: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R00=d[0], R10=d[1], R20=d[2]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R01=d[4], R11=d[5], R21=d[6]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R02=d[8], R12=d[9], R22=d[10]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True Metric Euler Angle Derivations: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Pitch (X-axis) = atan2(-R12, hypot(R02, R22)) * (180 / π)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Yaw (Y-axis)   = atan2(R02, R22) * (180 / π)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Roll (Z-axis)  = atan2(R10, R11) * (180 / π)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Eliminates vertical aspect ratio distortion by evaluating directly in 3D metric degrees.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14 of 23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ALGORITHMS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Facial Alignment, Blur Gating &amp; Deep Metric Embeddings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Laplacian Blur Gating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σ² = (1/N) * Σ (∇²I - μ)²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Convolves nasal crop with 3x3 discrete Laplacian kernel [0,1,0; 1,-4,1; 0,1,0]. Rejects crops with σ² &lt; 32 due to motion blur.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Umeyama 5-Point Transform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min_{s,R,t} Σ ||y_i - (s*R*x_i + t)||²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21488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least-squares orthogonal Procrustes problem aligning pupils, nose tip, and mouth corners to ArcFace 112x112 target coordinates.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31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MobileFaceNet Deep Embeddings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v_norm = v / ||v||₂  (512 Dimensions)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ONNX Runtime Web via WASM SIMD. Generates 512-D L2-normalized float embeddings on a unit hypersphere.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217920" y="37947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931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Cosine Metric Similarity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Sim(u, v) = u · v = Σ u_i * v_i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46634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 on L2-normalized vectors. Scaled confidence = max(0, min(99, floor(((Sim - 0.15) / 0.65) * 100))).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15 of 23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ALGORITHMS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8-State Kalman Filter &amp; DeepSORT-lite Cost Association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303520" cy="493776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8-State Constant-Velocity Kalman Filter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 Vector (BoundingBoxKalmanFilter):</a:t>
            </a:r>
            <a:endParaRPr lang="en-US" sz="92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x = [cx, cy, w, h, v_cx, v_cy, v_w, v_h]ᵀ</a:t>
            </a:r>
            <a:endParaRPr lang="en-US" sz="92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Maintains center coordinates, dimensions, and dynamic velocities.</a:t>
            </a:r>
            <a:endParaRPr lang="en-US" sz="920" dirty="0"/>
          </a:p>
          <a:p>
            <a:pPr indent="0" marL="0">
              <a:lnSpc>
                <a:spcPts val="1300"/>
              </a:lnSpc>
              <a:buNone/>
            </a:pPr>
            <a:endParaRPr lang="en-US" sz="92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 Prediction Step (F * x with dt = 1.0):</a:t>
            </a:r>
            <a:endParaRPr lang="en-US" sz="92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cx_k = cx_{k-1} + v_cx</a:t>
            </a:r>
            <a:endParaRPr lang="en-US" sz="92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cy_k = cy_{k-1} + v_cy</a:t>
            </a:r>
            <a:endParaRPr lang="en-US" sz="92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P_{k|k-1} = F * P_{k-1} * Fᵀ + Q</a:t>
            </a:r>
            <a:endParaRPr lang="en-US" sz="920" dirty="0"/>
          </a:p>
          <a:p>
            <a:pPr indent="0" marL="0">
              <a:lnSpc>
                <a:spcPts val="1300"/>
              </a:lnSpc>
              <a:buNone/>
            </a:pPr>
            <a:endParaRPr lang="en-US" sz="92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Measurement Update Step (z = [cx, cy, w, h]ᵀ):</a:t>
            </a:r>
            <a:endParaRPr lang="en-US" sz="92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 = z - H * x  (Innovation residual)</a:t>
            </a:r>
            <a:endParaRPr lang="en-US" sz="92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 = H * P * Hᵀ + R  (Innovation covariance)</a:t>
            </a:r>
            <a:endParaRPr lang="en-US" sz="92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 = P * Hᵀ * S⁻¹  (Kalman Gain)</a:t>
            </a:r>
            <a:endParaRPr lang="en-US" sz="92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x_k = x + K * y</a:t>
            </a:r>
            <a:endParaRPr lang="en-US" sz="92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P_k = (I - K * H) * P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94960" cy="493776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DeepSORT-lite Cost Matrix &amp; Hungarian Matching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Composite Cost Function Matrix C[d, t]: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Cost = 0.50 * (1 - IoU(B_d, B_t))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+ 0.20 * min(1.5, ||c_d - c_t|| / w_t)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+ 0.30 * (1 - CosSim(e_d, e_t))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Spatial Gating Constraint: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If IoU == 0 AND CentroidDist &gt; 1.5 * w_t =&gt;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Cost = 100,000 (Match Strictly Forbidden)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Hungarian Algorithm (Kuhn-Munkres O(N³)):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Pads rectangular M x N matrix to square dim.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Maintains dual potential variables (u_i, v_j) to solve globally optimal minimum-cost assignment.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16 of 23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Ergonomics Decision Tree &amp; EMA Smoothing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303520" cy="493776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 Multi-Class Probability Tree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Heuristic Score Contributions: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Screen Focus: effPitch ∈ [0.20, 0.34], |Yaw| ≤ 0.15 =&gt; pScreen += 0.85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Note Taking: effPitch ∈ [0.33, 0.54], |Yaw| ≤ 0.19 =&gt; pNote += 0.82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(if PitchVariance &lt; 0.005 =&gt; pNote += 0.10)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Reflection: effPitch &lt; 0.20 or gentle side glance =&gt; pReflect += 0.65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Distraction: |Yaw| &gt; 0.28 or steep downward drop =&gt; pDistract += 0.80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Temporal Penalty Shift: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If gentle glance persists &gt; 3.5s =&gt; shifts from reflection into genuine distraction.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Softmax Probability Normalization: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P(k) = exp(s_k) / Σ exp(s_j)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94960" cy="493776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Moving Average (EMA) Smoothing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Exponential Moving Average Formula: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Score_EMA(t) = α * TargetScore(t) + (1 - α) * Score_EMA(t - 1)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Smoothing Factor: α = 0.12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Eliminates Visual Jitter: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Prevents single-frame detection drops from causing visual flickering on the dashboard.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 Score Mapping: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SCREEN_ENGAGEMENT: Target = 96 - 35*|Yaw| - 40*|IrisX|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NOTE_TAKING: Target = 88 - 30*|Yaw|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REFLECTION: Target = max(76, 84 - 2*min(3, dwellSeconds))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DISTRACTION: Target = max(18, 70 - min(55, 20 + 8*dwellSeconds))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17 of 23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SPECIFICATION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Database Schema &amp; Data Models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public.users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UUID PK, email UNIQUE, password_hash (bcrypt), full_name, role (student|teacher|admin), tier (school|college), xp, total_hours, academic_profile JSONB.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public.cohorts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78308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UUID PK, code UNIQUE (e.g., "SCH-8X2A"), tier, name, standard, department, section, subject, room, teacher_id FK. Scopes student classes.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public.enrollments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42900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UUID PK, cohort_id FK, student_id FK, roll_no, enrolled_subjects TEXT[]. Composite constraint UNIQUE(cohort_id, roll_no).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217920" y="292608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public.study_sessions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342900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UUID PK, student_id FK, duration_minutes, xp_earned, avg_focus_score, session_type, telemetry JSONB. Enabled in supabase_realtime publication.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709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public.baseline_scores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0749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UUID PK, student_id FK, subject, cognitive_score, focus_index, retention_rate, notes. Tracks diagnostic progress.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217920" y="457200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709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public.focus_breaks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50749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UUID PK, student_id FK, break_type (box-breathing|20-20-20-eyes|neck-stretch), duration_seconds, trigger_focus_score, completed BOOL.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18 of 23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PROTECTION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Privacy &amp; DPDP Act 2023 Compliance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Informed Consent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 calibration requires a mandatory explicit user consent checkbox. Consent timestamps are cryptographically recorded alongside templates.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173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Data Localization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057400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512-D face vectors are encrypted with WebCrypto AES-GCM 256-bit keys and stored solely in local IndexedDB. Zero video frames leave the device.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319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0" y="4160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to Erasure (Danger Zone)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permanent account deletion dialog requiring students to type "DELETE MY ACCOUNT" to purge all database records and crypto keys.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37947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9319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00800" y="4160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PII Pseudonymization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4572000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names, emails, and roll numbers are replaced with deterministic SHA-256 hashes before invocation of Google Gemini 2.0 API.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19 of 23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PREPARATION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Guide Defense: Top Questions &amp; Answers (Part 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Why run computer vision in the browser rather than on a Python backend?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Latency: Browser-native WebGL/WASM executes in &lt; 33ms (30 fps) without network round-trips. 2) Bandwidth &amp; Cost: Streaming HD video from 40 classroom students requires &gt; 100 Mbps uplink and heavy server GPUs. 3) Privacy by Design: Video frames never leave the device, satisfying DPDP Act 2023.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632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How do you differentiate note-taking vs playing on a concealed smartphone?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Pitch Angle: Note-taking exhibits 15°-35° downward pitch (effPitch ∈ [0.33, 0.54]), whereas phone browsing exhibits steep drops (&gt; 45°). 2) Pitch Variance: Writing produces steady head posture (variance &lt; 0.005), while phone browsing introduces frequent glances up and down.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709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How does multi-student tracking prevent identity switching?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507492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DeepSORT-lite: 1) Kalman filter predicts bounding box motion. 2) Cost matrix combines (1-IoU), normalized centroid distance, and deep embedding similarity with spatial gating. 3) Hungarian algorithm finds global minimum assignment. 4) Identity hysteresis prevents label flicker.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20 of 23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PREPARATION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Guide Defense: Top Questions &amp; Answers (Part 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What prevents natural eyelid blinks from dropping focus scores?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blinks last 150-300ms. 1) PERCLOS evaluates eye closure aggregated across a 45-second sliding buffer, where a 200ms blink represents &lt; 0.7% (negligible). 2) Dynamic EAR calibration samples open eyelids during the first 25s. 3) EMA score smoothing (α = 0.12) prevents abrupt visual drops.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632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Q5: How does telemetry stream from multiple devices without server lag?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streaming continuous video feeds, each device transmits only lightweight 1 Hz JSON telemetry packets: { studentId, state, focusScore, timestamp } (~90 bytes) over Supabase Realtime websocket channels. Even 500 active students consume &lt; 50 KB/s total bandwidth.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709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Q6: Can the Google Gemini AI hallucinate student attention scores?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507492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All quantitative statistics (average focus score, peak focus, drop-off minute, gaze shift count) are computed deterministically in TypeScript before invoking Gemini. System instructions prohibit inventing numbers, and Zod runtime schemas enforce strict output validation.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21 of 23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Achievements &amp; Future Roadmap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303520" cy="493776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System Achievements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Browser-Native Perception: Real-time 30 fps 468 landmark tracking and 512-D ONNX embedding inference with zero server GPU overhead.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Robust Multi-Face Tracking: DeepSORT-lite architecture eliminates identity switching across students.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Ergonomic Formative Insights: Accurately differentiates desk problem-solving from genuine distraction.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Full Regulatory Compliance: Hardware-encrypted on-device storage strictly conforming to the DPDP Act 2023.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94960" cy="493776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Engineering Roadmap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Multi-Camera Classroom Fusion: Synthesizing multiple wide-angle classroom cameras into a unified 3D spatial occupancy grid.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Gaze Saliency Heatmaps: Tracking student eye fixation points on projected slide presentations and smartboards.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Edge SLM Pedagogical Assistant: Running on-device Small Language Models (e.g. Gemma 2B via WebGPU) for fully offline report generation.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Smart Classroom IoT Integration: Automatic environmental adjustments (lighting, HVAC) triggered by collective cognitive fatigue.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22 of 23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— Empowering Deep Learning Through Ethical Attention Analytics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49040" y="3840480"/>
            <a:ext cx="44805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39776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 Welcome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Documentation: CogniLearn System Architecture &amp; Features Specification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CogniLearn AI Architecture Specification  |  Slide 23 of 23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CogniLearn Educational Intelligence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CogniLearn AI — System Architecture &amp; Feature Specification</dc:title>
  <dc:subject>PptxGenJS Presentation</dc:subject>
  <dc:creator>CogniLearn Team</dc:creator>
  <cp:lastModifiedBy>CogniLearn Team</cp:lastModifiedBy>
  <cp:revision>1</cp:revision>
  <dcterms:created xsi:type="dcterms:W3CDTF">2026-10-07T18:02:22Z</dcterms:created>
  <dcterms:modified xsi:type="dcterms:W3CDTF">2026-10-07T18:02:22Z</dcterms:modified>
</cp:coreProperties>
</file>